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pressjs.com/" TargetMode="External"/><Relationship Id="rId3" Type="http://schemas.openxmlformats.org/officeDocument/2006/relationships/hyperlink" Target="https://expressjs.com/en/5x/starter/installing/" TargetMode="External"/><Relationship Id="rId4" Type="http://schemas.openxmlformats.org/officeDocument/2006/relationships/hyperlink" Target="https://expressjs.com/en/starter/basic-routing/" TargetMode="External"/><Relationship Id="rId5" Type="http://schemas.openxmlformats.org/officeDocument/2006/relationships/hyperlink" Target="https://expressjs.com/en/guide/routing/" TargetMode="External"/><Relationship Id="rId6" Type="http://schemas.openxmlformats.org/officeDocument/2006/relationships/hyperlink" Target="https://expressjs.com/en/starter/generator/" TargetMode="External"/><Relationship Id="rId7" Type="http://schemas.openxmlformats.org/officeDocument/2006/relationships/hyperlink" Target="https://nodejs.org/docs/latest/api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731520"/>
            <a:ext cx="1188720" cy="11887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155448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2194560"/>
            <a:ext cx="1554480" cy="1554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27432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79552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ptos"/>
              </a:defRPr>
            </a:pPr>
            <a:r>
              <a:t>MODULE 3</a:t>
            </a:r>
          </a:p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Express.js</a:t>
            </a:r>
          </a:p>
          <a:p>
            <a:pPr>
              <a:defRPr sz="1800">
                <a:solidFill>
                  <a:srgbClr val="CBD5E1"/>
                </a:solidFill>
                <a:latin typeface="Aptos"/>
              </a:defRPr>
            </a:pPr>
            <a:r>
              <a:t>Installing • Application Creation • Configuration • RESTful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7132320" cy="1325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Teaching focus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Concept → Need → Analogy → Code → VS Code execution → Output → Interview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ptos"/>
              </a:defRPr>
            </a:pPr>
            <a:r>
              <a:t>For B.Tech / undergraduate web development learners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Module map: follow the syllabus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learning path from “install” to a working REST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210312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1. Installing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39" y="2423160"/>
            <a:ext cx="2286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39" y="2011680"/>
            <a:ext cx="1828800" cy="8229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2. New App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2040" y="2423160"/>
            <a:ext cx="2286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2011680"/>
            <a:ext cx="1828800" cy="8229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3. Configure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2423160"/>
            <a:ext cx="2286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78040" y="2011680"/>
            <a:ext cx="210312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4. RESTful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Outcome: build and explain a small Express.js application in VS Code.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Core mental model: Browser/client → HTTP request → Express route/middleware → response.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Final practical: a Student REST API using GET, POST, PUT and DELETE.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By the end of this module, students should be able to…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Install Node.js/Express and create a project using npm.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Explain the role of Express as a Node.js web application framework.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Create an Express application and understand the app object.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Configure JSON parsing, ports, static files and middleware.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Design routes using HTTP methods, route parameters, query strings and request bodies.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Build a simple RESTful API and explain its behavior in an interview.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Prerequisites: what students already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quick bridge from Node.js to Express.js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200400" cy="3383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Node.js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JavaScript running outside the browser.</a:t>
            </a:r>
            <a:br/>
            <a:br/>
            <a:r>
              <a:t>Think: “engine that can run server-side JavaScript.”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200400" cy="33832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HTTP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Client sends a request.</a:t>
            </a:r>
            <a:br/>
            <a:r>
              <a:t>Server sends a response.</a:t>
            </a:r>
            <a:br/>
            <a:br/>
            <a:r>
              <a:t>Think: “language used between browser and server.”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200400" cy="3383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npm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Package manager for Node.js projects.</a:t>
            </a:r>
            <a:br/>
            <a:br/>
            <a:r>
              <a:t>Think: “app store + dependency manager for code.”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303520"/>
            <a:ext cx="10332720" cy="73152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Key idea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Express does not replace Node.js; it makes common web-server work much easier.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INSTALLING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1. What is Express.js?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Definition first — then why we need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4754880" cy="18288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Definition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Express.js is a minimal, flexible web application framework for Node.js. It provides routing and middleware facilities so we can build web applications and APIs efficiently.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Need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Without a framework, request parsing, routing and common server tasks require more low-level Node.js code. Express gives a clean application-level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08760"/>
            <a:ext cx="2286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79" y="2011680"/>
            <a:ext cx="1645920" cy="1920240"/>
          </a:xfrm>
          <a:prstGeom prst="ellipse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59" y="2560320"/>
            <a:ext cx="128016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93407" y="1691639"/>
            <a:ext cx="4114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57416" y="152704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931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Restaurant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0020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Node.js = kitchen + equipment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Express = manager who organizes requests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Routes = menu items / counters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Response = completed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INSTALLING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Why do we need Express?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Compare raw Node.js HTTP handling with Express routing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493776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Raw 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4572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// Raw Node.js idea</a:t>
            </a:r>
            <a:br/>
            <a:r>
              <a:t>const http = require('http');</a:t>
            </a:r>
            <a:br/>
            <a:r>
              <a:t>http.createServer((req, res) =&gt; {</a:t>
            </a:r>
            <a:br/>
            <a:r>
              <a:t>  if (req.url === '/') {</a:t>
            </a:r>
            <a:br/>
            <a:r>
              <a:t>    res.end('Home');</a:t>
            </a:r>
            <a:br/>
            <a:r>
              <a:t>  }</a:t>
            </a:r>
            <a:br/>
            <a:r>
              <a:t>}).listen(3000);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493776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6539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29967"/>
            <a:ext cx="4572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// Express</a:t>
            </a:r>
            <a:br/>
            <a:r>
              <a:t>const express = require('express');</a:t>
            </a:r>
            <a:br/>
            <a:r>
              <a:t>const app = express();</a:t>
            </a:r>
            <a:br/>
            <a:br/>
            <a:r>
              <a:t>app.get('/', (req, res) =&gt; {</a:t>
            </a:r>
            <a:br/>
            <a:r>
              <a:t>  res.send('Home');</a:t>
            </a:r>
            <a:br/>
            <a:r>
              <a:t>});</a:t>
            </a:r>
            <a:br/>
            <a:br/>
            <a:r>
              <a:t>app.listen(3000);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49240"/>
            <a:ext cx="10424160" cy="7315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10B981"/>
                </a:solidFill>
                <a:latin typeface="Aptos"/>
              </a:defRPr>
            </a:pPr>
            <a:r>
              <a:t>Interview-ready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Interview line: “Express is a thin layer over Node.js that simplifies routing, middleware and web application development.”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INSTALLING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Installing: Node.js + VS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Express depends on Node.js; npm comes with Node.js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Install a current LTS release of Node.js from the official Node.js website.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Install Visual Studio Code.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Open VS Code → Terminal → New Terminal.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Verify the environment before creating the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448056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56831" y="17556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2140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node --version</a:t>
            </a:r>
            <a:br/>
            <a:r>
              <a:t>npm --version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383280"/>
            <a:ext cx="44805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56831" y="349300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5876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v22.x.x   (example)</a:t>
            </a:r>
            <a:br/>
            <a:r>
              <a:t>10.x.x    (example)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10332720" cy="73152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Remember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The exact version numbers will depend on what is installed on the student's computer.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INSTALLING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Create the Express project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VS Code execution procedure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47548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mkdir express-module3</a:t>
            </a:r>
            <a:br/>
            <a:r>
              <a:t>cd express-module3</a:t>
            </a:r>
            <a:br/>
            <a:r>
              <a:t>code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00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mkdir → creates a folder.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cd → moves into the folder.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code . → opens the current folder in VS Code.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If `code .` is unavailable, open VS Code manually and choose File → Open 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37760"/>
            <a:ext cx="1024128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Analogy: this folder is your restaurant building. Everything belonging to this application lives inside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INSTALLING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Initialize the application with npm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Why package.json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420624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709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75688"/>
            <a:ext cx="3840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npm init -y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5669280" cy="2103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package.json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Stores project metadata, scripts and dependency declarations. It tells npm what this project is and what packages it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493776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326440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package.json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{</a:t>
            </a:r>
            <a:br/>
            <a:r>
              <a:t>  "name": "express-module3",</a:t>
            </a:r>
            <a:br/>
            <a:r>
              <a:t>  "version": "1.0.0",</a:t>
            </a:r>
            <a:br/>
            <a:r>
              <a:t>  "main": "app.js"</a:t>
            </a:r>
            <a:br/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840480"/>
            <a:ext cx="4937760" cy="155448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Interview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Interview question: “Why is package.json important?” → It records project metadata, scripts and dependencies so the project can be installed and run consistently.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INSTALLING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Install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The package becomes a project dependency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457200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npm install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5544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npm downloads Express and its dependency tree.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package.json gets an `express` dependency entry.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node_modules/ is created locally.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package-lock.json records the resolved dependency versions.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4572000" cy="13716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Check</a:t>
            </a:r>
          </a:p>
          <a:p>
            <a:pPr>
              <a:defRPr sz="1800">
                <a:solidFill>
                  <a:srgbClr val="1E293B"/>
                </a:solidFill>
                <a:latin typeface="Aptos"/>
              </a:defRPr>
            </a:pPr>
            <a:r>
              <a:t>npm list express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886200"/>
            <a:ext cx="5120640" cy="128016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Version note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Current Express 5 documentation requires Node.js 18 or higher.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NEW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2. Express and creating a new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The smallest useful Express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76072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184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539495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const express = require('express');</a:t>
            </a:r>
            <a:br/>
            <a:r>
              <a:t>const app = express();</a:t>
            </a:r>
            <a:br/>
            <a:br/>
            <a:r>
              <a:t>app.get('/', (req, res) =&gt; {</a:t>
            </a:r>
            <a:br/>
            <a:r>
              <a:t>  res.send('Hello, Express!');</a:t>
            </a:r>
            <a:br/>
            <a:r>
              <a:t>});</a:t>
            </a:r>
            <a:br/>
            <a:br/>
            <a:r>
              <a:t>app.listen(3000, () =&gt; {</a:t>
            </a:r>
            <a:br/>
            <a:r>
              <a:t>  console.log('Server running on port 3000');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600200"/>
            <a:ext cx="20116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59" y="2103120"/>
            <a:ext cx="1371600" cy="1645919"/>
          </a:xfrm>
          <a:prstGeom prst="ellipse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651760"/>
            <a:ext cx="100584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62088" y="1783080"/>
            <a:ext cx="4114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26096" y="161848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749039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Express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6459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`express()` creates the application object.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`app.get()` defines what happens for GET /.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`res.send()` sends the response.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`app.listen()` starts listening for requests.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4434840"/>
            <a:ext cx="429768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ptos"/>
              </a:defRPr>
            </a:pPr>
            <a:r>
              <a:t>Mental model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The app object is the central object through which routes, middleware and configuration are registered.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NEW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Run the application and read the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Execution procedure + browser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1. Create app.js and paste the code.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2. Save the file.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3. In VS Code terminal: `node app.js`.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4. Open the shown address in a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02920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417880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445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Server running on port 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4846320" cy="3520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Browser</a:t>
            </a:r>
          </a:p>
          <a:p>
            <a:pPr>
              <a:defRPr sz="2100">
                <a:solidFill>
                  <a:srgbClr val="1E293B"/>
                </a:solidFill>
                <a:latin typeface="Aptos"/>
              </a:defRPr>
            </a:pPr>
            <a:r>
              <a:t>http://localhost:3000/</a:t>
            </a:r>
            <a:br/>
            <a:br/>
            <a:r>
              <a:t>Hello, Express!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257800"/>
            <a:ext cx="484632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Output explanation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localhost means “this computer”. Port 3000 is the door through which the browser reaches this server.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NEW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Anatomy of an Express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Read the code from left to right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66928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app.get('/students/:id', (req, res) =&gt; {</a:t>
            </a:r>
            <a:br/>
            <a:r>
              <a:t>  res.send(`Student: ${req.params.id}`);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508760"/>
            <a:ext cx="1828800" cy="914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app</a:t>
            </a:r>
          </a:p>
          <a:p>
            <a:pPr>
              <a:defRPr sz="1300">
                <a:solidFill>
                  <a:srgbClr val="1E293B"/>
                </a:solidFill>
                <a:latin typeface="Aptos"/>
              </a:defRPr>
            </a:pPr>
            <a:r>
              <a:t>Application object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508760"/>
            <a:ext cx="1828800" cy="914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get</a:t>
            </a:r>
          </a:p>
          <a:p>
            <a:pPr>
              <a:defRPr sz="1300">
                <a:solidFill>
                  <a:srgbClr val="1E293B"/>
                </a:solidFill>
                <a:latin typeface="Aptos"/>
              </a:defRPr>
            </a:pPr>
            <a:r>
              <a:t>HTTP method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651760"/>
            <a:ext cx="1828800" cy="914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/students/:id</a:t>
            </a:r>
          </a:p>
          <a:p>
            <a:pPr>
              <a:defRPr sz="1300">
                <a:solidFill>
                  <a:srgbClr val="1E293B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651760"/>
            <a:ext cx="1828800" cy="9144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handler</a:t>
            </a:r>
          </a:p>
          <a:p>
            <a:pPr>
              <a:defRPr sz="1300">
                <a:solidFill>
                  <a:srgbClr val="1E293B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794760"/>
            <a:ext cx="3840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req / res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Request enters → response leaves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24128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Analogy: a hotel front desk uses “service type + room/guest identifier + staff action” to decide what to 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NEW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Recommended beginner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Keep the first project simple; scale later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502920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7556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Folder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21408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express-module3/</a:t>
            </a:r>
            <a:br/>
            <a:r>
              <a:t>├── app.js</a:t>
            </a:r>
            <a:br/>
            <a:r>
              <a:t>├── package.json</a:t>
            </a:r>
            <a:br/>
            <a:r>
              <a:t>├── package-lock.json</a:t>
            </a:r>
            <a:br/>
            <a:r>
              <a:t>└── node_modules/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app.js → application entry point for this learning example.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package.json → metadata + dependencies + scripts.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package-lock.json → locked dependency resolution.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node_modules/ → installed packages; normally not committed to Git.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20640"/>
            <a:ext cx="10149840" cy="82296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Design note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Later, a larger project can separate routes, controllers, services and models. Express does not force one folder 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3. Configuring your Express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Configuration = deciding how the application behaves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2560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1874519"/>
            <a:ext cx="1920239" cy="265176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" y="214884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2112264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13D"/>
                </a:solidFill>
                <a:latin typeface="Aptos"/>
              </a:defRPr>
            </a:pPr>
            <a:r>
              <a:t>PORT</a:t>
            </a:r>
          </a:p>
        </p:txBody>
      </p:sp>
      <p:sp>
        <p:nvSpPr>
          <p:cNvPr id="14" name="Oval 13"/>
          <p:cNvSpPr/>
          <p:nvPr/>
        </p:nvSpPr>
        <p:spPr>
          <a:xfrm>
            <a:off x="1325880" y="251460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2478024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13D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16" name="Oval 15"/>
          <p:cNvSpPr/>
          <p:nvPr/>
        </p:nvSpPr>
        <p:spPr>
          <a:xfrm>
            <a:off x="1325880" y="288036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2843784"/>
            <a:ext cx="1463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13D"/>
                </a:solidFill>
                <a:latin typeface="Aptos"/>
              </a:defRPr>
            </a:pPr>
            <a:r>
              <a:t>STATIC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Control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1554480"/>
            <a:ext cx="7406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Port: where the server listens.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Middleware: what processing happens before/around routes.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JSON parsing: how request bodies become JavaScript objects.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Static files: how CSS/images/HTML can be served.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Environment values: keep deployment-specific settings outside source code when appropriate.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57800"/>
            <a:ext cx="10241280" cy="73152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Think of configuration as the “settings panel” of the server—not business logic.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Configuration example: 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clean way to centralize a 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577840" cy="3383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52120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const express = require('express');</a:t>
            </a:r>
            <a:br/>
            <a:r>
              <a:t>const app = express();</a:t>
            </a:r>
            <a:br/>
            <a:br/>
            <a:r>
              <a:t>app.set('port', process.env.PORT || 3000);</a:t>
            </a:r>
            <a:br/>
            <a:br/>
            <a:r>
              <a:t>app.listen(app.get('port'), () =&gt; {</a:t>
            </a:r>
            <a:br/>
            <a:r>
              <a:t>  console.log(`Running on ${app.get('port')}`);</a:t>
            </a:r>
            <a:br/>
            <a: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`app.set(name, value)` stores a setting.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`app.get(name)` retrieves a setting.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`process.env.PORT` allows the deployment environment to choose the port.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`|| 3000` gives a local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57800"/>
            <a:ext cx="1024128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Interview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Interview: Why not hard-code 3000 everywhere? → Centralized configuration makes the application easier to run in different environments.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Configuration example: JSON request bodies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Why `express.json()`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00200"/>
            <a:ext cx="2286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1920240"/>
            <a:ext cx="1371600" cy="2286000"/>
          </a:xfrm>
          <a:prstGeom prst="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2514600"/>
            <a:ext cx="9144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83080" y="210312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4831" y="2221992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JSON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600200"/>
            <a:ext cx="5120640" cy="3108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30752" y="1709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075688"/>
            <a:ext cx="475487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app.use(express.json());</a:t>
            </a:r>
            <a:br/>
            <a:br/>
            <a:r>
              <a:t>app.post('/students', (req, res) =&gt; {</a:t>
            </a:r>
            <a:br/>
            <a:r>
              <a:t>  console.log(req.body);</a:t>
            </a:r>
            <a:br/>
            <a:r>
              <a:t>  res.json({ received: req.body });</a:t>
            </a:r>
            <a:br/>
            <a:r>
              <a:t>});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6002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POST/PUT/PATCH requests often carry JSON.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`express.json()` parses JSON and makes the result available as `req.body`.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It must be registered before routes that need the parsed body.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10241280" cy="8229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10B981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Analogy: a security gate checks the incoming parcel and turns it into a form your application can easily read.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Configuration example: static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Serving HTML, CSS, images and client-side JavaScript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57784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52120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const path = require('path');</a:t>
            </a:r>
            <a:br/>
            <a:r>
              <a:t>app.use(express.static(path.join(__dirname, 'public')));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554480"/>
            <a:ext cx="4663440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4827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Folder +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29967"/>
            <a:ext cx="42976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public/</a:t>
            </a:r>
            <a:br/>
            <a:r>
              <a:t>├── index.html</a:t>
            </a:r>
            <a:br/>
            <a:r>
              <a:t>├── style.css</a:t>
            </a:r>
            <a:br/>
            <a:r>
              <a:t>└── images/</a:t>
            </a:r>
            <a:br/>
            <a:br/>
            <a:r>
              <a:t>Browser → /index.html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303520" cy="1188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Why?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The server can expose files in `public` without creating a route for every asset.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39"/>
            <a:ext cx="4846320" cy="137160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Analogy: a library has a public shelf. Visitors can pick standard resources without asking the librarian to prepare each 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Middleware: the “pipeline” inside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request can pass through several processing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2860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54680" y="1828800"/>
            <a:ext cx="182880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Middleware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22860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94960" y="1828800"/>
            <a:ext cx="1828800" cy="9144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Route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22860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35240" y="1828800"/>
            <a:ext cx="182880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Middleware functions receive `req`, `res`, and `next`.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They can inspect/change the request, perform a task, end the response, or call `next()`.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Order matters: middleware runs in the order it is registered.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03520"/>
            <a:ext cx="1005840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Analogy: airport security → boarding gate → flight. Each stage may inspect the passenger or stop the journey.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Middleware example: request logger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See the request flow in the terminal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48640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app.use((req, res, next) =&gt; {</a:t>
            </a:r>
            <a:br/>
            <a:r>
              <a:t>  console.log(req.method, req.url);</a:t>
            </a:r>
            <a:br/>
            <a:r>
              <a:t>  next();</a:t>
            </a:r>
            <a:br/>
            <a:r>
              <a:t>});</a:t>
            </a:r>
            <a:br/>
            <a:br/>
            <a:r>
              <a:t>app.get('/', (req, res) =&gt; {</a:t>
            </a:r>
            <a:br/>
            <a:r>
              <a:t>  res.send('Home');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475488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56831" y="1709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75688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GET /</a:t>
            </a:r>
            <a:br/>
            <a:r>
              <a:t>GET /students</a:t>
            </a:r>
            <a:br/>
            <a:r>
              <a:t>GET /students/101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`next()` hands control to the next matching middleware/route.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If middleware sends a response and does not call `next()`, the chain stops.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RESTFUL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4. RESTful Routing with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Routing answers one question: “For this method + path, what should happen?”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2560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783080"/>
            <a:ext cx="2194560" cy="28346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24028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788920"/>
            <a:ext cx="17373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2057400"/>
            <a:ext cx="41148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43584" y="214884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43584" y="242316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43584" y="269748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Traffic junction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1600200"/>
            <a:ext cx="3291840" cy="1143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Route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A rule that maps a request to a handler.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600200"/>
            <a:ext cx="3657600" cy="11430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Endpoint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A reachable combination of HTTP method + URL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063240"/>
            <a:ext cx="72237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13631" y="317296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538728"/>
            <a:ext cx="68580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app.METHOD(PATH, HANDLER);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389120"/>
            <a:ext cx="722376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Express routing is like a traffic controller: method + path determines which road the request should take.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RESTFUL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HTTP methods: the verbs of an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The most important four for CRUD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468880" cy="2011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GET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Read / retrieve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600200"/>
            <a:ext cx="2468880" cy="2011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POST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Create / add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00200"/>
            <a:ext cx="2468880" cy="20116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PUT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Replace /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600200"/>
            <a:ext cx="2468880" cy="20116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DELETE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Remove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10241280" cy="82296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Interview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Do not memorize CRUD mechanically. Ask: “What is the client trying to do to the resource?”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74920"/>
            <a:ext cx="493776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51846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504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GET    /students</a:t>
            </a:r>
            <a:br/>
            <a:r>
              <a:t>POST   /students</a:t>
            </a:r>
            <a:br/>
            <a:r>
              <a:t>PUT    /students/101</a:t>
            </a:r>
            <a:br/>
            <a:r>
              <a:t>DELETE /students/101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074920"/>
            <a:ext cx="493776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2" y="51846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5504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Resource = students</a:t>
            </a:r>
            <a:br/>
            <a:r>
              <a:t>ID = 101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RESTFUL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Route anatomy: method + path + 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This is the pattern behind Express routing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669280" cy="2468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642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29967"/>
            <a:ext cx="5303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app.get('/students/:id', (req, res) =&gt; {</a:t>
            </a:r>
            <a:br/>
            <a:r>
              <a:t>  const id = req.params.id;</a:t>
            </a:r>
            <a:br/>
            <a:r>
              <a:t>  res.json({ id, name: 'Anu' });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554480"/>
            <a:ext cx="1828800" cy="914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GET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554480"/>
            <a:ext cx="1828800" cy="914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/students/:id</a:t>
            </a:r>
          </a:p>
          <a:p>
            <a:pPr>
              <a:defRPr sz="1300">
                <a:solidFill>
                  <a:srgbClr val="1E293B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743200"/>
            <a:ext cx="3886200" cy="9144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req.params.id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Route parameter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886200"/>
            <a:ext cx="3886200" cy="914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res.json(...)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JSON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24128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ptos"/>
              </a:defRPr>
            </a:pPr>
            <a:r>
              <a:t>Output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Request: GET /students/101 → `req.params.id` becomes `101`.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RESTFUL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Where does input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Three common places: params, query, body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3383280" cy="2286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Route parameter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URL: `/students/101`</a:t>
            </a:r>
            <a:br/>
            <a:br/>
            <a:r>
              <a:t>Code: `req.params.id`</a:t>
            </a:r>
            <a:br/>
            <a:br/>
            <a:r>
              <a:t>Use for identifying a resource.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383280" cy="22860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Query string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URL: `/students?course=CSE`</a:t>
            </a:r>
            <a:br/>
            <a:br/>
            <a:r>
              <a:t>Code: `req.query.course`</a:t>
            </a:r>
            <a:br/>
            <a:br/>
            <a:r>
              <a:t>Use for filtering/sorting/searching.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83280" cy="22860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Request body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JSON sent by client.</a:t>
            </a:r>
            <a:br/>
            <a:br/>
            <a:r>
              <a:t>Code: `req.body`</a:t>
            </a:r>
            <a:br/>
            <a:br/>
            <a:r>
              <a:t>Use for create/update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120640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440740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73168"/>
            <a:ext cx="4754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GET /students/101?view=full</a:t>
            </a:r>
            <a:br/>
            <a:br/>
            <a:r>
              <a:t>req.params.id  → 101</a:t>
            </a:r>
            <a:br/>
            <a:r>
              <a:t>req.query.view → full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120640" cy="141732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DC2626"/>
                </a:solidFill>
                <a:latin typeface="Aptos"/>
              </a:defRPr>
            </a:pPr>
            <a:r>
              <a:t>Interview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Interview trap: query strings are not part of the route path itself; they are read separately from `req.query`.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RESTFUL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express.Router(): split routes into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Useful when the application grows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57784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5270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routes/students.js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8"/>
            <a:ext cx="521207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// routes/students.js</a:t>
            </a:r>
            <a:br/>
            <a:r>
              <a:t>const express = require('express');</a:t>
            </a:r>
            <a:br/>
            <a:r>
              <a:t>const router = express.Router();</a:t>
            </a:r>
            <a:br/>
            <a:br/>
            <a:r>
              <a:t>router.get('/', (req, res) =&gt; {</a:t>
            </a:r>
            <a:br/>
            <a:r>
              <a:t>  res.json([{ id: 1, name: 'Anu' }]);</a:t>
            </a:r>
            <a:br/>
            <a:r>
              <a:t>});</a:t>
            </a:r>
            <a:br/>
            <a:br/>
            <a:r>
              <a:t>module.exports = router;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17320"/>
            <a:ext cx="466344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48272" y="15270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92808"/>
            <a:ext cx="4297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// app.js</a:t>
            </a:r>
            <a:br/>
            <a:r>
              <a:t>const studentsRouter = require('./routes/students');</a:t>
            </a:r>
            <a:br/>
            <a:br/>
            <a:r>
              <a:t>app.use('/students', studentsRouter);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703320"/>
            <a:ext cx="4663440" cy="12801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Result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GET /students → router.get('/')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332720" cy="64008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Analogy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Analogy: a large office has departments. Each department handles its own set of requests.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RESTFUL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What does RESTful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REST is a style for designing networked resources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120640" cy="2011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Resource-oriented thinking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Instead of URLs that describe actions, identify resources and use HTTP methods to express the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4754880" cy="2468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6184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84248"/>
            <a:ext cx="43891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Less REST-like:</a:t>
            </a:r>
            <a:br/>
            <a:r>
              <a:t>GET /getAllStudents</a:t>
            </a:r>
            <a:br/>
            <a:r>
              <a:t>GET /deleteStudent/101</a:t>
            </a:r>
            <a:br/>
            <a:br/>
            <a:r>
              <a:t>REST-style:</a:t>
            </a:r>
            <a:br/>
            <a:r>
              <a:t>GET    /students</a:t>
            </a:r>
            <a:br/>
            <a:r>
              <a:t>DELETE /students/101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Resource: student(s)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Identifier: 101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Method: DELETE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Result: resource is removed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4754880" cy="12801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10B981"/>
                </a:solidFill>
                <a:latin typeface="Aptos"/>
              </a:defRPr>
            </a:pPr>
            <a:r>
              <a:t>Interview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Interview-ready definition: “RESTful routing uses resource-oriented URLs and standard HTTP methods to represent operations on those resources.”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RESTFUL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REST + CRUD: the key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One table students should remember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1828800" cy="594360"/>
          </a:xfrm>
          <a:prstGeom prst="rect">
            <a:avLst/>
          </a:prstGeom>
          <a:solidFill>
            <a:srgbClr val="14213D"/>
          </a:solidFill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508760"/>
            <a:ext cx="1280160" cy="594360"/>
          </a:xfrm>
          <a:prstGeom prst="rect">
            <a:avLst/>
          </a:prstGeom>
          <a:solidFill>
            <a:srgbClr val="14213D"/>
          </a:solidFill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508760"/>
            <a:ext cx="2743200" cy="594360"/>
          </a:xfrm>
          <a:prstGeom prst="rect">
            <a:avLst/>
          </a:prstGeom>
          <a:solidFill>
            <a:srgbClr val="14213D"/>
          </a:solidFill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508760"/>
            <a:ext cx="4754880" cy="594360"/>
          </a:xfrm>
          <a:prstGeom prst="rect">
            <a:avLst/>
          </a:prstGeom>
          <a:solidFill>
            <a:srgbClr val="14213D"/>
          </a:solidFill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Typical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30552"/>
            <a:ext cx="18288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Read 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130552"/>
            <a:ext cx="12801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130552"/>
            <a:ext cx="27432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/students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130552"/>
            <a:ext cx="475488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200 + array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07792"/>
            <a:ext cx="1828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Read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907792"/>
            <a:ext cx="128016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907792"/>
            <a:ext cx="27432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/students/101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907792"/>
            <a:ext cx="475488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200 + object / 404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85032"/>
            <a:ext cx="18288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685032"/>
            <a:ext cx="12801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685032"/>
            <a:ext cx="27432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/students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685032"/>
            <a:ext cx="475488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201 + created object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62272"/>
            <a:ext cx="18288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4462272"/>
            <a:ext cx="128016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4462272"/>
            <a:ext cx="274320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/students/101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462272"/>
            <a:ext cx="475488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200 + updated object / 404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39512"/>
            <a:ext cx="18288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5239512"/>
            <a:ext cx="12801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5239512"/>
            <a:ext cx="274320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/students/101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239512"/>
            <a:ext cx="475488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ptos"/>
              </a:defRPr>
            </a:pPr>
            <a:r>
              <a:t>200/204 / 404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532120"/>
            <a:ext cx="1014984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Good API habit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Status codes are part of the API contract. Choose them intentionally and consistently.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Mini-project: Student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One example that combines the whole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657600" cy="2377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Scenario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A college needs a small service to:</a:t>
            </a:r>
            <a:br/>
            <a:r>
              <a:t>• view students</a:t>
            </a:r>
            <a:br/>
            <a:r>
              <a:t>• add a student</a:t>
            </a:r>
            <a:br/>
            <a:r>
              <a:t>• update a student</a:t>
            </a:r>
            <a:br/>
            <a:r>
              <a:t>• delete a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554480"/>
            <a:ext cx="3017520" cy="2377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Resource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students</a:t>
            </a:r>
            <a:br/>
            <a:br/>
            <a:r>
              <a:t>Example object:</a:t>
            </a:r>
            <a:br/>
            <a:r>
              <a:t>{id, name, course}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554480"/>
            <a:ext cx="3474720" cy="2377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Routes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GET /students</a:t>
            </a:r>
            <a:br/>
            <a:r>
              <a:t>GET /students/:id</a:t>
            </a:r>
            <a:br/>
            <a:r>
              <a:t>POST /students</a:t>
            </a:r>
            <a:br/>
            <a:r>
              <a:t>PUT /students/:id</a:t>
            </a:r>
            <a:br/>
            <a:r>
              <a:t>DELETE /students/:id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Teaching choice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No database yet: use an in-memory array so students can focus on Express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66928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55046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const students = [</a:t>
            </a:r>
            <a:br/>
            <a:r>
              <a:t>  { id: 1, name: 'Anu', course: 'CSE' },</a:t>
            </a:r>
            <a:br/>
            <a:r>
              <a:t>  { id: 2, name: 'Ravi', course: 'ECE' }</a:t>
            </a:r>
            <a:br/>
            <a:r>
              <a:t>];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Practical setup: app.js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Paste this foundation before adding routes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6692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5270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8"/>
            <a:ext cx="5303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const express = require('express');</a:t>
            </a:r>
            <a:br/>
            <a:r>
              <a:t>const app = express();</a:t>
            </a:r>
            <a:br/>
            <a:br/>
            <a:r>
              <a:t>app.use(express.json());</a:t>
            </a:r>
            <a:br/>
            <a:br/>
            <a:r>
              <a:t>const students = [</a:t>
            </a:r>
            <a:br/>
            <a:r>
              <a:t>  { id: 1, name: 'Anu', course: 'CSE' },</a:t>
            </a:r>
            <a:br/>
            <a:r>
              <a:t>  { id: 2, name: 'Ravi', course: 'ECE' }</a:t>
            </a:r>
            <a:br/>
            <a:r>
              <a:t>];</a:t>
            </a:r>
            <a:br/>
            <a:br/>
            <a:r>
              <a:t>app.set('port', process.env.PORT || 3000);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Run: `node app.js`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At this stage the server starts, but no student route exists yet.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We now add one route at a time and test each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206240"/>
            <a:ext cx="4480560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10B981"/>
                </a:solidFill>
                <a:latin typeface="Aptos"/>
              </a:defRPr>
            </a:pPr>
            <a:r>
              <a:t>Classroom tip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Teaching strategy: build → run → test → explain. Do not paste the whole API before students understand each route.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Route 1: GET all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Read the collection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57784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184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5212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app.get('/students', (req, res) =&gt; {</a:t>
            </a:r>
            <a:br/>
            <a:r>
              <a:t>  res.json(students);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57784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37673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Browser /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33087"/>
            <a:ext cx="5212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GET http://localhost:3000/students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508760"/>
            <a:ext cx="4663440" cy="2468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48272" y="16184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984248"/>
            <a:ext cx="429767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[</a:t>
            </a:r>
            <a:br/>
            <a:r>
              <a:t>  { "id": 1, "name": "Anu", "course": "CSE" },</a:t>
            </a:r>
            <a:br/>
            <a:r>
              <a:t>  { "id": 2, "name": "Ravi", "course": "ECE" }</a:t>
            </a:r>
            <a:br/>
            <a:r>
              <a:t>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Why `res.json()`? The API returns structured JSON.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Browser can display JSON directly.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This is the REST “Read all” operation.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Route 2: GET one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Route parameters identify a specific 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76072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4813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539495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app.get('/students/:id', (req, res) =&gt; {</a:t>
            </a:r>
            <a:br/>
            <a:r>
              <a:t>  const id = Number(req.params.id);</a:t>
            </a:r>
            <a:br/>
            <a:r>
              <a:t>  const student = students.find(s =&gt; s.id === id);</a:t>
            </a:r>
            <a:br/>
            <a:br/>
            <a:r>
              <a:t>  if (!student) return res.status(404).json({</a:t>
            </a:r>
            <a:br/>
            <a:r>
              <a:t>    message: 'Student not found'</a:t>
            </a:r>
            <a:br/>
            <a:r>
              <a:t>  });</a:t>
            </a:r>
            <a:br/>
            <a:br/>
            <a:r>
              <a:t>  res.json(student);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508760"/>
            <a:ext cx="44805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16184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84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GET /students/2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743200"/>
            <a:ext cx="448056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31152" y="2852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18688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{</a:t>
            </a:r>
            <a:br/>
            <a:r>
              <a:t>  "id": 2,</a:t>
            </a:r>
            <a:br/>
            <a:r>
              <a:t>  "name": "Ravi",</a:t>
            </a:r>
            <a:br/>
            <a:r>
              <a:t>  "course": "ECE"</a:t>
            </a:r>
            <a:br/>
            <a: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892040"/>
            <a:ext cx="448056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Interview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Why Number()? URL parameters arrive as strings. Convert when comparing with numeric IDs.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Route 3: POST a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Create a new 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760720" cy="42062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4356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8"/>
            <a:ext cx="53949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app.post('/students', (req, res) =&gt; {</a:t>
            </a:r>
            <a:br/>
            <a:r>
              <a:t>  const student = {</a:t>
            </a:r>
            <a:br/>
            <a:r>
              <a:t>    id: students.length + 1,</a:t>
            </a:r>
            <a:br/>
            <a:r>
              <a:t>    name: req.body.name,</a:t>
            </a:r>
            <a:br/>
            <a:r>
              <a:t>    course: req.body.course</a:t>
            </a:r>
            <a:br/>
            <a:r>
              <a:t>  };</a:t>
            </a:r>
            <a:br/>
            <a:br/>
            <a:r>
              <a:t>  students.push(student);</a:t>
            </a:r>
            <a:br/>
            <a:r>
              <a:t>  res.status(201).json(student);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417320"/>
            <a:ext cx="4480560" cy="23774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15270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92808"/>
            <a:ext cx="4114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POST /students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"name": "Meera",</a:t>
            </a:r>
            <a:br/>
            <a:r>
              <a:t>  "course": "CSE"</a:t>
            </a:r>
            <a:br/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977639"/>
            <a:ext cx="448056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31152" y="408736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453127"/>
            <a:ext cx="4114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201 Created</a:t>
            </a:r>
            <a:br/>
            <a:br/>
            <a:r>
              <a:t>{</a:t>
            </a:r>
            <a:br/>
            <a:r>
              <a:t>  "id": 3,</a:t>
            </a:r>
            <a:br/>
            <a:r>
              <a:t>  "name": "Meera",</a:t>
            </a:r>
            <a:br/>
            <a:r>
              <a:t>  "course": "CSE"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Route 4: PUT a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Update an existing 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76072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4356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8"/>
            <a:ext cx="53949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app.put('/students/:id', (req, res) =&gt; {</a:t>
            </a:r>
            <a:br/>
            <a:r>
              <a:t>  const id = Number(req.params.id);</a:t>
            </a:r>
            <a:br/>
            <a:r>
              <a:t>  const student = students.find(s =&gt; s.id === id);</a:t>
            </a:r>
            <a:br/>
            <a:br/>
            <a:r>
              <a:t>  if (!student) return res.status(404).json({</a:t>
            </a:r>
            <a:br/>
            <a:r>
              <a:t>    message: 'Student not found'</a:t>
            </a:r>
            <a:br/>
            <a:r>
              <a:t>  });</a:t>
            </a:r>
            <a:br/>
            <a:br/>
            <a:r>
              <a:t>  student.name = req.body.name;</a:t>
            </a:r>
            <a:br/>
            <a:r>
              <a:t>  student.course = req.body.course;</a:t>
            </a:r>
            <a:br/>
            <a:r>
              <a:t>  res.json(student);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417320"/>
            <a:ext cx="4480560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15270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92808"/>
            <a:ext cx="4114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PUT /students/2</a:t>
            </a:r>
            <a:br/>
            <a:br/>
            <a:r>
              <a:t>{</a:t>
            </a:r>
            <a:br/>
            <a:r>
              <a:t>  "name": "Ravi Kumar",</a:t>
            </a:r>
            <a:br/>
            <a:r>
              <a:t>  "course": "CSE"</a:t>
            </a:r>
            <a:br/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886200"/>
            <a:ext cx="448056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31152" y="3995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61688"/>
            <a:ext cx="4114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200 OK</a:t>
            </a:r>
            <a:br/>
            <a:br/>
            <a:r>
              <a:t>{</a:t>
            </a:r>
            <a:br/>
            <a:r>
              <a:t>  "id": 2,</a:t>
            </a:r>
            <a:br/>
            <a:r>
              <a:t>  "name": "Ravi Kumar",</a:t>
            </a:r>
            <a:br/>
            <a:r>
              <a:t>  "course": "CSE"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Route 5: DELETE a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Remove a 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760720" cy="42062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435607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8"/>
            <a:ext cx="53949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app.delete('/students/:id', (req, res) =&gt; {</a:t>
            </a:r>
            <a:br/>
            <a:r>
              <a:t>  const id = Number(req.params.id);</a:t>
            </a:r>
            <a:br/>
            <a:r>
              <a:t>  const index = students.findIndex(s =&gt; s.id === id);</a:t>
            </a:r>
            <a:br/>
            <a:br/>
            <a:r>
              <a:t>  if (index === -1) return res.status(404).json({</a:t>
            </a:r>
            <a:br/>
            <a:r>
              <a:t>    message: 'Student not found'</a:t>
            </a:r>
            <a:br/>
            <a:r>
              <a:t>  });</a:t>
            </a:r>
            <a:br/>
            <a:br/>
            <a:r>
              <a:t>  students.splice(index, 1);</a:t>
            </a:r>
            <a:br/>
            <a:r>
              <a:t>  res.json({ message: 'Student deleted' });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417320"/>
            <a:ext cx="44805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152704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92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DELETE /students/2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743200"/>
            <a:ext cx="448056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31152" y="2852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18688"/>
            <a:ext cx="4114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200 OK</a:t>
            </a:r>
            <a:br/>
            <a:br/>
            <a:r>
              <a:t>{</a:t>
            </a:r>
            <a:br/>
            <a:r>
              <a:t>  "message": "Student deleted"</a:t>
            </a:r>
            <a:br/>
            <a: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572000"/>
            <a:ext cx="448056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Important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 real database would persist the change. Here the array changes only while the server is running.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Start the server after all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The final line turns the application into a listening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48640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709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75688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app.listen(app.get('port'), () =&gt; {</a:t>
            </a:r>
            <a:br/>
            <a:r>
              <a:t>  console.log(`Student API running on port ${app.get('port')}`);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46634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56831" y="170992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75688"/>
            <a:ext cx="429767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Student API running on port 3000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18288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Client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4160520"/>
            <a:ext cx="27431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26079" y="3749039"/>
            <a:ext cx="1828800" cy="8229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HTTP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4879" y="4160520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0" y="3749039"/>
            <a:ext cx="1828800" cy="8229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Express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4160520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0" y="3749039"/>
            <a:ext cx="182880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Route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61120" y="4160520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35440" y="3749039"/>
            <a:ext cx="18288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66360"/>
            <a:ext cx="10149840" cy="7315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10B981"/>
                </a:solidFill>
                <a:latin typeface="Aptos"/>
              </a:defRPr>
            </a:pPr>
            <a:r>
              <a:t>Big picture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This is the complete mental model of the module: client request → Express processing → route handler → response.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How to test the API in VS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Browser is enough for GET; use curl for other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57276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# GET</a:t>
            </a:r>
            <a:br/>
            <a:r>
              <a:t>curl http://localhost:3000/students</a:t>
            </a:r>
            <a:br/>
            <a:br/>
            <a:r>
              <a:t># GET one</a:t>
            </a:r>
            <a:br/>
            <a:r>
              <a:t>curl http://localhost:3000/students/1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48463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157276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Windows curl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44805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# POST</a:t>
            </a:r>
            <a:br/>
            <a:r>
              <a:t>curl -X POST http://localhost:3000/students ^</a:t>
            </a:r>
            <a:br/>
            <a:r>
              <a:t>  -H "Content-Type: application/json" ^</a:t>
            </a:r>
            <a:br/>
            <a:r>
              <a:t>  -d "{\"name\":\"Meera\",\"course\":\"CSE\"}"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In PowerShell, quoting rules can differ; students may use a REST client extension or Postman if preferred.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For teaching, first demonstrate GET in the browser because the result is immediately visible.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Then use curl or a REST client to demonstrate POST/PUT/DELETE.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Handling “not found” and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good API should fail clearly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23774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6184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// 404 fallback — keep this after your routes</a:t>
            </a:r>
            <a:br/>
            <a:r>
              <a:t>app.use((req, res) =&gt; {</a:t>
            </a:r>
            <a:br/>
            <a:r>
              <a:t>  res.status(404).json({</a:t>
            </a:r>
            <a:br/>
            <a:r>
              <a:t>    message: 'Route not found'</a:t>
            </a:r>
            <a:br/>
            <a:r>
              <a:t>  });</a:t>
            </a:r>
            <a:br/>
            <a:r>
              <a:t>});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4663440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1618488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84248"/>
            <a:ext cx="42976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  <a:defRPr sz="1200">
                <a:solidFill>
                  <a:srgbClr val="E2E8F0"/>
                </a:solidFill>
                <a:latin typeface="Cascadia Mono"/>
              </a:defRPr>
            </a:pPr>
            <a:r>
              <a:t>// Example</a:t>
            </a:r>
            <a:br/>
            <a:r>
              <a:t>GET /unknown</a:t>
            </a:r>
            <a:br/>
            <a:br/>
            <a:r>
              <a:t>HTTP 404</a:t>
            </a:r>
            <a:br/>
            <a:r>
              <a:t>{</a:t>
            </a:r>
            <a:br/>
            <a:r>
              <a:t>  "message": "Route not found"</a:t>
            </a:r>
            <a:br/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241280" cy="100584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DC2626"/>
                </a:solidFill>
                <a:latin typeface="Aptos"/>
              </a:defRPr>
            </a:pPr>
            <a:r>
              <a:t>Common mistake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Order matters. A catch-all 404 middleware placed before your real routes can prevent those routes from being reached.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40680"/>
            <a:ext cx="10241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Rule of thumb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Specific routes first → 404 fallback → error-handling middleware when needed.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Complete request flow: one picture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Use this diagram to explain Express in an interview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865926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Browser / Client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23126" y="2286000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06006" y="1828800"/>
            <a:ext cx="1622544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HTTP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28550" y="2286000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11430" y="1828800"/>
            <a:ext cx="1622544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Middleware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33974" y="2286000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16854" y="1828800"/>
            <a:ext cx="1622544" cy="9144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Route Match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39399" y="2286000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22279" y="1828800"/>
            <a:ext cx="1622544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Handler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4823" y="2286000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27703" y="1828800"/>
            <a:ext cx="1622544" cy="9144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Request carries method, URL, headers and possibly a body.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Middleware can inspect/process the request.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Router matches method + path.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Handler performs the application logic.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Response sends status, headers and data back to the client.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Interview-ready questions: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Short answers students can actually say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74720" cy="74980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What is Express.js?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A minimal and flexible Node.js web framework for building web apps and APIs.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3474720" cy="74980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What is `app`?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313432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The Express application object used to configure middleware, routes and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9544"/>
            <a:ext cx="3474720" cy="74980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What is routing?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09544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Mapping an HTTP method + path to handler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05656"/>
            <a:ext cx="3474720" cy="74980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What is middleware?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105656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A function that participates in request/response processing and can call `next()`.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01768"/>
            <a:ext cx="3474720" cy="74980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Why `express.json()`?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001768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To parse incoming JSON request bodies into `req.body`.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Interview-ready questions: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REST, parameters, status codes and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74720" cy="74980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Params vs query?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Params identify a route resource; query strings commonly filter, sort or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3474720" cy="74980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Why `:id`?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313432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It creates a dynamic route parameter, accessible through `req.params.id`.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9544"/>
            <a:ext cx="3474720" cy="74980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POST vs PUT?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09544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POST commonly creates a resource; PUT commonly replaces/updates a known resource.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05656"/>
            <a:ext cx="3474720" cy="74980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Why 404?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105656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The requested resource/route could not be found.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01768"/>
            <a:ext cx="3474720" cy="749808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Why use `express.Router()`?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001768"/>
            <a:ext cx="69037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To organize related routes into modular, mountable route handlers.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Common mistakes — and how to debug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Turn errors into learning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3749039" cy="65836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`Cannot find module 'express'`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25880"/>
            <a:ext cx="6629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Run `npm install express` in the project folder.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21408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Browser says connection refused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121408"/>
            <a:ext cx="6629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Check whether `node app.js` is still running and confirm the 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16936"/>
            <a:ext cx="3749039" cy="65836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`req.body` is undefined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916936"/>
            <a:ext cx="6629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Register `app.use(express.json())` before the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12463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Route never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712463"/>
            <a:ext cx="6629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Check HTTP method, URL path and route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07992"/>
            <a:ext cx="3749039" cy="65836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404 unexpectedly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507992"/>
            <a:ext cx="6629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Look for an earlier catch-all middleware or a path typo.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3749039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Port already in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5303520"/>
            <a:ext cx="6629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Stop the old server or choose another port.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Classroom challenge: build `/courses`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Application-level practice after the guided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3657600" cy="3200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Task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Create a second resource:</a:t>
            </a:r>
            <a:br/>
            <a:br/>
            <a:r>
              <a:t>GET /courses</a:t>
            </a:r>
            <a:br/>
            <a:r>
              <a:t>GET /courses/:id</a:t>
            </a:r>
            <a:br/>
            <a:r>
              <a:t>POST /courses</a:t>
            </a:r>
            <a:br/>
            <a:r>
              <a:t>PUT /courses/:id</a:t>
            </a:r>
            <a:br/>
            <a:r>
              <a:t>DELETE /courses/:id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508760"/>
            <a:ext cx="2926080" cy="3200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Data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id</a:t>
            </a:r>
            <a:br/>
            <a:r>
              <a:t>name</a:t>
            </a:r>
            <a:br/>
            <a:r>
              <a:t>credits</a:t>
            </a:r>
            <a:br/>
            <a:br/>
            <a:r>
              <a:t>Example:</a:t>
            </a:r>
            <a:br/>
            <a:r>
              <a:t>{ id: 1,</a:t>
            </a:r>
            <a:br/>
            <a:r>
              <a:t>  name: 'Web Dev',</a:t>
            </a:r>
            <a:br/>
            <a:r>
              <a:t>  credits: 4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200400" cy="3200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Rules</a:t>
            </a:r>
          </a:p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Use:</a:t>
            </a:r>
            <a:br/>
            <a:r>
              <a:t>• express.json()</a:t>
            </a:r>
            <a:br/>
            <a:r>
              <a:t>• route params</a:t>
            </a:r>
            <a:br/>
            <a:r>
              <a:t>• status codes</a:t>
            </a:r>
            <a:br/>
            <a:r>
              <a:t>• 404 handling</a:t>
            </a:r>
            <a:br/>
            <a:r>
              <a:t>• clear JSON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515600" cy="77724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Stretch goal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Bonus: add `GET /courses?credits=4` and filter using `req.query.credits`.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Quick viva / exit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Ask students to answer before revealing the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1. What does `app.listen()` do?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2. Where does `/students/101` put `101`?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3. Which middleware makes JSON body data available as `req.body`?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4. Which method is normally used to create a resource?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5. Why should a 404 fallback come after application routes?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4572000" cy="35661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Answer key</a:t>
            </a:r>
          </a:p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1. Starts the server listening.</a:t>
            </a:r>
            <a:br/>
            <a:r>
              <a:t>2. `req.params.id`.</a:t>
            </a:r>
            <a:br/>
            <a:r>
              <a:t>3. `express.json()`.</a:t>
            </a:r>
            <a:br/>
            <a:r>
              <a:t>4. POST.</a:t>
            </a:r>
            <a:br/>
            <a:r>
              <a:t>5. Otherwise it may intercept valid routes.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57800"/>
            <a:ext cx="10241280" cy="73152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F59E0B"/>
                </a:solidFill>
                <a:latin typeface="Aptos"/>
              </a:defRPr>
            </a:pPr>
            <a:r>
              <a:t>Teaching tip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Assessment idea: 5 marks — one mark per correct explanation, not merely memorized keyword.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Module summary: the 30-second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A strong final answer students can give in an interview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54480"/>
            <a:ext cx="1582705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Install Node/npm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2745" y="1965960"/>
            <a:ext cx="1645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67337" y="1554480"/>
            <a:ext cx="1376265" cy="8229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npm init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43602" y="1965960"/>
            <a:ext cx="1645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08194" y="1554480"/>
            <a:ext cx="1582705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Install Express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90899" y="1965960"/>
            <a:ext cx="1645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55491" y="1554480"/>
            <a:ext cx="1376265" cy="8229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Create app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31756" y="1965960"/>
            <a:ext cx="1645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96348" y="1554480"/>
            <a:ext cx="1376265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Configure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72614" y="1965960"/>
            <a:ext cx="1645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37206" y="1554480"/>
            <a:ext cx="1376265" cy="8229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Route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13471" y="1965960"/>
            <a:ext cx="164592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78063" y="1554480"/>
            <a:ext cx="1376265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01752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Express simplifies web-server development on Node.js.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The application object (`app`) is configured with settings, middleware and routes.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Routing combines an HTTP method with a path and a handler.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RESTful APIs model resources and use HTTP methods for operations.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 working Student API can be built without a database first; persistence can be added later.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40680"/>
            <a:ext cx="10241280" cy="64008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10B981"/>
                </a:solidFill>
                <a:latin typeface="Aptos"/>
              </a:defRPr>
            </a:pPr>
            <a:r>
              <a:t>Remember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Final mental model: “Request comes in → Express processes it → the matching route handles it → response goes back.”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References and further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Textbook-aligned + current authoritative 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0607040" cy="10972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Textbook 1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Sammie Smith, “Fullstack Web Development”, APress Publications, 2020. (Reference listed in the supplied syllabus image.)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10607040" cy="10972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Textbook 2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Amos Q. Haviv, “MEAN Web Development”, Packt Publishing, Second Edition, 2018.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07040" cy="1097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Official Express.js</a:t>
            </a:r>
          </a:p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Express.js documentation: Installing, Basic Routing, Routing, Application Generator and FAQ. Use the current Express 5 documentation for installation/version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6070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4213D"/>
                </a:solidFill>
                <a:latin typeface="Aptos"/>
              </a:defRPr>
            </a:pPr>
            <a:r>
              <a:t>Official Node.js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Node.js documentation: packages / modules and runtime fundamentals.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Source notes for this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What was used to build the teaching 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The attached syllabus/reference image was used to preserve the requested textbook names and Module-3 topic order.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The concepts are taught in a beginner-friendly sequence and cross-checked against current Express.js documentation.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Code examples intentionally use CommonJS (`require`) to reduce setup complexity for beginners; students can later learn ES modules.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The practical API uses an in-memory array so the module stays focused on Express rather than database setup.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For production applications, validation, authentication, persistent storage, structured error handling and testing should be added.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10241280" cy="73152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Aptos"/>
              </a:defRPr>
            </a:pPr>
            <a:r>
              <a:t>Academic practice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Important: examples are teaching examples. Students should understand and type/modify the code rather than treat the slides as a copy-paste substitute for learning.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Official links 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ptos"/>
              </a:defRPr>
            </a:pPr>
            <a:r>
              <a:t>Use these pages when updating or checking the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t>Module 3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rPr>
                <a:hlinkClick r:id="rId2"/>
              </a:rPr>
              <a:t>Express.js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https://expressjs.com/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3911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rPr>
                <a:hlinkClick r:id="rId3"/>
              </a:rPr>
              <a:t>Express 5 installation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https://expressjs.com/en/5x/starter/installing/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52344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rPr>
                <a:hlinkClick r:id="rId4"/>
              </a:rPr>
              <a:t>Express basic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52344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https://expressjs.com/en/starter/basic-routing/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65576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rPr>
                <a:hlinkClick r:id="rId5"/>
              </a:rPr>
              <a:t>Express routing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65576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https://expressjs.com/en/guide/routing/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78808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rPr>
                <a:hlinkClick r:id="rId6"/>
              </a:rPr>
              <a:t>Express application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78808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https://expressjs.com/en/starter/generator/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ptos"/>
              </a:defRPr>
            </a:pPr>
            <a:r>
              <a:rPr>
                <a:hlinkClick r:id="rId7"/>
              </a:rPr>
              <a:t>Node.js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920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https://nodejs.org/docs/latest/api/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23560"/>
            <a:ext cx="1024128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2563EB"/>
                </a:solidFill>
                <a:latin typeface="Aptos"/>
              </a:defRPr>
            </a:pPr>
            <a:r>
              <a:t>Navigation</a:t>
            </a:r>
          </a:p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These links are included as clickable hyperlinks in the PowerPoint.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